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0"/>
  </p:normalViewPr>
  <p:slideViewPr>
    <p:cSldViewPr snapToGrid="0">
      <p:cViewPr varScale="1">
        <p:scale>
          <a:sx n="106" d="100"/>
          <a:sy n="106" d="100"/>
        </p:scale>
        <p:origin x="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502CBD-0D3D-A43C-69F1-49366057D2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2800" dirty="0"/>
              <a:t>Дипломная работа</a:t>
            </a:r>
            <a:br>
              <a:rPr lang="ru-RU" sz="2800" dirty="0"/>
            </a:br>
            <a:br>
              <a:rPr lang="ru-RU" sz="2800" dirty="0"/>
            </a:br>
            <a:r>
              <a:rPr lang="ru-RU" sz="2800" dirty="0"/>
              <a:t>Тема</a:t>
            </a:r>
            <a:r>
              <a:rPr lang="en-US" sz="2800" dirty="0"/>
              <a:t>: </a:t>
            </a:r>
            <a:r>
              <a:rPr lang="ru-RU" sz="2800" b="0" i="0" dirty="0">
                <a:solidFill>
                  <a:srgbClr val="000000"/>
                </a:solidFill>
                <a:effectLst/>
              </a:rPr>
              <a:t>Разработка </a:t>
            </a:r>
            <a:r>
              <a:rPr lang="ru-RU" sz="2800" b="0" i="0" dirty="0" err="1">
                <a:solidFill>
                  <a:srgbClr val="000000"/>
                </a:solidFill>
                <a:effectLst/>
              </a:rPr>
              <a:t>телеграм</a:t>
            </a:r>
            <a:r>
              <a:rPr lang="ru-RU" sz="2800" b="0" i="0" dirty="0">
                <a:solidFill>
                  <a:srgbClr val="000000"/>
                </a:solidFill>
                <a:effectLst/>
              </a:rPr>
              <a:t>-бота для составления расписания ВУЗов</a:t>
            </a:r>
            <a:endParaRPr lang="ru-RU" sz="2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86430B0-3A8C-D2A4-6B1A-3338773A2C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1400" dirty="0"/>
              <a:t>Студент группы ИВТ-1</a:t>
            </a:r>
          </a:p>
          <a:p>
            <a:r>
              <a:rPr lang="ru-RU" sz="1400" dirty="0"/>
              <a:t>Атаманов Александр Алексеевич</a:t>
            </a:r>
          </a:p>
        </p:txBody>
      </p:sp>
    </p:spTree>
    <p:extLst>
      <p:ext uri="{BB962C8B-B14F-4D97-AF65-F5344CB8AC3E}">
        <p14:creationId xmlns:p14="http://schemas.microsoft.com/office/powerpoint/2010/main" val="1852338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006942-27B6-7C92-9F79-3709AD89F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2D63F6-3CD1-EAA8-0036-97663FAB0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Студенты ежедневно нуждаются в быстром доступе к расписанию, но официальный сайт вуза не адаптирован для мобильных устройств и требует до двух минут на поиск. Telegram используют более 85 % учащихся, а университет предоставляет готовое API с актуальными данными, однако удобного бота с персонализацией и автоматической рассылкой до сих пор не существовало. </a:t>
            </a:r>
          </a:p>
          <a:p>
            <a:pPr marL="0" indent="0">
              <a:buNone/>
            </a:pP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 marL="0" indent="0"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Это создало противоречие между высокой потребностью в мгновенном персональном доступе и отсутствием инструмента, встроенного в повседневную коммуникационную среду. Устранение этого противоречия и определяет актуальность разработки.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029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8E0352-E31F-E06C-3C27-796C1C2E4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7D6F74-DDC1-2D5C-1118-7A1DA03A1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46907"/>
            <a:ext cx="9601200" cy="443619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sz="4400" b="1" dirty="0"/>
              <a:t>Цель работы:</a:t>
            </a:r>
            <a:br>
              <a:rPr lang="ru-RU" sz="4400" dirty="0"/>
            </a:br>
            <a:r>
              <a:rPr lang="ru-RU" sz="4400" dirty="0">
                <a:solidFill>
                  <a:srgbClr val="0F1115"/>
                </a:solidFill>
                <a:latin typeface="quote-cjk-patch"/>
              </a:rPr>
              <a:t>С</a:t>
            </a:r>
            <a:r>
              <a:rPr lang="ru-RU" sz="4400" b="0" i="0" dirty="0">
                <a:solidFill>
                  <a:srgbClr val="0F1115"/>
                </a:solidFill>
                <a:effectLst/>
                <a:latin typeface="quote-cjk-patch"/>
              </a:rPr>
              <a:t>оздать Telegram-бота, который по запросу студента выдаёт актуальное расписание, настраивается под конкретную группу и подгруппу, быстро отвечает за счёт кеширования и автоматически рассылает расписание на </a:t>
            </a:r>
            <a:r>
              <a:rPr lang="ru-RU" sz="4400" b="0" i="0" dirty="0" err="1">
                <a:solidFill>
                  <a:srgbClr val="0F1115"/>
                </a:solidFill>
                <a:effectLst/>
                <a:latin typeface="quote-cjk-patch"/>
              </a:rPr>
              <a:t>завтра.</a:t>
            </a:r>
            <a:r>
              <a:rPr lang="ru-RU" sz="4400" b="1" dirty="0" err="1"/>
              <a:t>Основные</a:t>
            </a:r>
            <a:r>
              <a:rPr lang="ru-RU" sz="4400" b="1" dirty="0"/>
              <a:t> задачи:</a:t>
            </a:r>
            <a:endParaRPr lang="ru-RU" sz="4400" dirty="0"/>
          </a:p>
          <a:p>
            <a:r>
              <a:rPr lang="ru-RU" sz="4400" b="0" i="0" dirty="0">
                <a:solidFill>
                  <a:srgbClr val="0F1115"/>
                </a:solidFill>
                <a:effectLst/>
                <a:latin typeface="quote-cjk-patch"/>
              </a:rPr>
              <a:t>Проанализировать аналоги и сформулировать требования</a:t>
            </a:r>
            <a:r>
              <a:rPr lang="en" sz="4400" dirty="0"/>
              <a:t>; </a:t>
            </a:r>
            <a:endParaRPr lang="ru-RU" sz="4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ru-RU" sz="4400" b="0" i="0" dirty="0">
                <a:solidFill>
                  <a:srgbClr val="0F1115"/>
                </a:solidFill>
                <a:effectLst/>
                <a:latin typeface="quote-cjk-patch"/>
              </a:rPr>
              <a:t>Выбрать и обосновать технологический стек</a:t>
            </a:r>
          </a:p>
          <a:p>
            <a:r>
              <a:rPr lang="ru-RU" sz="4400" b="0" i="0" dirty="0">
                <a:solidFill>
                  <a:srgbClr val="0F1115"/>
                </a:solidFill>
                <a:effectLst/>
                <a:latin typeface="quote-cjk-patch"/>
              </a:rPr>
              <a:t>Спроектировать архитектуру</a:t>
            </a:r>
            <a:endParaRPr lang="en" sz="4400" dirty="0"/>
          </a:p>
          <a:p>
            <a:r>
              <a:rPr lang="ru-RU" sz="4400" b="0" i="0" dirty="0">
                <a:solidFill>
                  <a:srgbClr val="0F1115"/>
                </a:solidFill>
                <a:effectLst/>
                <a:latin typeface="quote-cjk-patch"/>
              </a:rPr>
              <a:t>Реализовать серверную часть на Python (</a:t>
            </a:r>
            <a:r>
              <a:rPr lang="ru-RU" sz="4400" b="0" i="0" dirty="0" err="1">
                <a:solidFill>
                  <a:srgbClr val="0F1115"/>
                </a:solidFill>
                <a:effectLst/>
                <a:latin typeface="quote-cjk-patch"/>
              </a:rPr>
              <a:t>aiogram</a:t>
            </a:r>
            <a:r>
              <a:rPr lang="ru-RU" sz="44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ru-RU" sz="4400" b="0" i="0" dirty="0" err="1">
                <a:solidFill>
                  <a:srgbClr val="0F1115"/>
                </a:solidFill>
                <a:effectLst/>
                <a:latin typeface="quote-cjk-patch"/>
              </a:rPr>
              <a:t>long</a:t>
            </a:r>
            <a:r>
              <a:rPr lang="ru-RU" sz="4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sz="4400" b="0" i="0" dirty="0" err="1">
                <a:solidFill>
                  <a:srgbClr val="0F1115"/>
                </a:solidFill>
                <a:effectLst/>
                <a:latin typeface="quote-cjk-patch"/>
              </a:rPr>
              <a:t>polling</a:t>
            </a:r>
            <a:r>
              <a:rPr lang="ru-RU" sz="4400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ru-RU" sz="4400" b="0" i="0" dirty="0" err="1">
                <a:solidFill>
                  <a:srgbClr val="0F1115"/>
                </a:solidFill>
                <a:effectLst/>
                <a:latin typeface="quote-cjk-patch"/>
              </a:rPr>
              <a:t>webhook</a:t>
            </a:r>
            <a:r>
              <a:rPr lang="ru-RU" sz="4400" b="0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lang="en" sz="4400" dirty="0"/>
              <a:t> ; </a:t>
            </a:r>
            <a:endParaRPr lang="ru-RU" sz="4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ru-RU" sz="4400" b="0" i="0" dirty="0">
                <a:solidFill>
                  <a:srgbClr val="0F1115"/>
                </a:solidFill>
                <a:effectLst/>
                <a:latin typeface="quote-cjk-patch"/>
              </a:rPr>
              <a:t>Внедрить многоуровневое кеширование в </a:t>
            </a:r>
            <a:r>
              <a:rPr lang="ru-RU" sz="4400" b="0" i="0" dirty="0" err="1">
                <a:solidFill>
                  <a:srgbClr val="0F1115"/>
                </a:solidFill>
                <a:effectLst/>
                <a:latin typeface="quote-cjk-patch"/>
              </a:rPr>
              <a:t>Redis</a:t>
            </a:r>
            <a:r>
              <a:rPr lang="en" sz="4400" dirty="0"/>
              <a:t>; </a:t>
            </a:r>
            <a:endParaRPr lang="ru-RU" sz="4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ru-RU" sz="4400" b="0" i="0" dirty="0">
                <a:solidFill>
                  <a:srgbClr val="0F1115"/>
                </a:solidFill>
                <a:effectLst/>
                <a:latin typeface="quote-cjk-patch"/>
              </a:rPr>
              <a:t>Обеспечить контейнеризацию (</a:t>
            </a:r>
            <a:r>
              <a:rPr lang="ru-RU" sz="4400" b="0" i="0" dirty="0" err="1">
                <a:solidFill>
                  <a:srgbClr val="0F1115"/>
                </a:solidFill>
                <a:effectLst/>
                <a:latin typeface="quote-cjk-patch"/>
              </a:rPr>
              <a:t>Docker</a:t>
            </a:r>
            <a:r>
              <a:rPr lang="ru-RU" sz="4400" b="0" i="0" dirty="0">
                <a:solidFill>
                  <a:srgbClr val="0F1115"/>
                </a:solidFill>
                <a:effectLst/>
                <a:latin typeface="quote-cjk-patch"/>
              </a:rPr>
              <a:t>) и CI/CD</a:t>
            </a:r>
            <a:r>
              <a:rPr lang="ru-RU" sz="4400" dirty="0"/>
              <a:t> ;</a:t>
            </a:r>
            <a:endParaRPr lang="en" sz="4400" dirty="0"/>
          </a:p>
          <a:p>
            <a:r>
              <a:rPr lang="ru-RU" sz="4400" b="0" i="0" dirty="0">
                <a:solidFill>
                  <a:srgbClr val="0F1115"/>
                </a:solidFill>
                <a:effectLst/>
                <a:latin typeface="quote-cjk-patch"/>
              </a:rPr>
              <a:t>Провести тестирование</a:t>
            </a:r>
            <a:r>
              <a:rPr lang="ru-RU" sz="4400" dirty="0"/>
              <a:t>;</a:t>
            </a:r>
            <a:endParaRPr lang="en" sz="4400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945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6FBA45-76CC-FA0B-C3B6-9913F2E2B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Теоретическая основа и анализ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A40B20-4A8B-E2EF-BF3F-5563E673F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Изучены существующие боты российских вузов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Обоснован выбор технологий: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Python 3.12 +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aiogram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 3.x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– асинхронность, FSM, поддержка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long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polling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webhook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SQLite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– лёгкое хранение профилей, не требует сервера.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Redis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– кеширование API-ответов с дифференцированным TTL.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Docker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 +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GitHub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Actions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– идентичность окружений, автоматическая сборка.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Детально проанализировано API университета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Сформулированы функциональные и нефункциональные требования.</a:t>
            </a:r>
          </a:p>
        </p:txBody>
      </p:sp>
    </p:spTree>
    <p:extLst>
      <p:ext uri="{BB962C8B-B14F-4D97-AF65-F5344CB8AC3E}">
        <p14:creationId xmlns:p14="http://schemas.microsoft.com/office/powerpoint/2010/main" val="3025841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4BC6D1-92C4-9486-5FDD-886D12771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2E861E-23B0-4B9C-2782-9D16E0259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Основные проблемы: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рост времени ответа при прямых запросах к API (до 1,5–2 с на каждый запрос);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высокая частота обращений к одному и тому же справочному материалу (группы, преподаватели, аудитории);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недоступность серверов Telegram на территории РФ из-за блокировок;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необходимость одновременной обработки десятков пользовательских сессий и выполнения фоновых задач (рассылка, обновление справочников);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риск потери данных о подписках и настройках при сбоях;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сложность поддержки нескольких часовых поясов для корректной рассылки.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9515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A02D0-2794-D253-72E4-031C2FC5B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разработанного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C1956C-FDD6-F052-6348-55E444D74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Для решения проблемы был разработан режим:</a:t>
            </a:r>
          </a:p>
          <a:p>
            <a:pPr marL="0" indent="0">
              <a:buNone/>
            </a:pPr>
            <a:r>
              <a:rPr lang="en" b="1" dirty="0" err="1"/>
              <a:t>wal</a:t>
            </a:r>
            <a:r>
              <a:rPr lang="en" b="1" dirty="0"/>
              <a:t>-g </a:t>
            </a:r>
            <a:r>
              <a:rPr lang="en" b="1" dirty="0" err="1"/>
              <a:t>binlog</a:t>
            </a:r>
            <a:r>
              <a:rPr lang="en" b="1" dirty="0"/>
              <a:t>-server</a:t>
            </a:r>
            <a:endParaRPr lang="en" dirty="0"/>
          </a:p>
          <a:p>
            <a:pPr marL="0" indent="0">
              <a:buNone/>
            </a:pPr>
            <a:r>
              <a:rPr lang="ru-RU" dirty="0"/>
              <a:t>Основная идея — не преобразовывать </a:t>
            </a:r>
            <a:r>
              <a:rPr lang="en" dirty="0"/>
              <a:t>binary log </a:t>
            </a:r>
            <a:r>
              <a:rPr lang="ru-RU" dirty="0"/>
              <a:t>в единый </a:t>
            </a:r>
            <a:r>
              <a:rPr lang="en" dirty="0"/>
              <a:t>SQL-</a:t>
            </a:r>
            <a:r>
              <a:rPr lang="ru-RU" dirty="0"/>
              <a:t>файл, а применять изменения постепенно через протокол репликации </a:t>
            </a:r>
            <a:r>
              <a:rPr lang="en" dirty="0"/>
              <a:t>MySQL.</a:t>
            </a:r>
          </a:p>
          <a:p>
            <a:pPr marL="0" indent="0">
              <a:buNone/>
            </a:pPr>
            <a:r>
              <a:rPr lang="ru-RU" dirty="0"/>
              <a:t>Такой подход позволяет:</a:t>
            </a:r>
          </a:p>
          <a:p>
            <a:r>
              <a:rPr lang="ru-RU" dirty="0"/>
              <a:t>не создавать большой промежуточный </a:t>
            </a:r>
            <a:r>
              <a:rPr lang="en" dirty="0"/>
              <a:t>SQL-</a:t>
            </a:r>
            <a:r>
              <a:rPr lang="ru-RU" dirty="0"/>
              <a:t>файл; </a:t>
            </a:r>
          </a:p>
          <a:p>
            <a:r>
              <a:rPr lang="ru-RU" dirty="0"/>
              <a:t>применять </a:t>
            </a:r>
            <a:r>
              <a:rPr lang="en" dirty="0" err="1"/>
              <a:t>binlog</a:t>
            </a:r>
            <a:r>
              <a:rPr lang="en" dirty="0"/>
              <a:t> </a:t>
            </a:r>
            <a:r>
              <a:rPr lang="ru-RU" dirty="0"/>
              <a:t>последовательно; </a:t>
            </a:r>
          </a:p>
          <a:p>
            <a:r>
              <a:rPr lang="ru-RU" dirty="0"/>
              <a:t>скачивать </a:t>
            </a:r>
            <a:r>
              <a:rPr lang="en" dirty="0" err="1"/>
              <a:t>binlog</a:t>
            </a:r>
            <a:r>
              <a:rPr lang="en" dirty="0"/>
              <a:t> </a:t>
            </a:r>
            <a:r>
              <a:rPr lang="ru-RU" dirty="0"/>
              <a:t>только перед применением; </a:t>
            </a:r>
          </a:p>
          <a:p>
            <a:r>
              <a:rPr lang="ru-RU" dirty="0"/>
              <a:t>удалять обработанные файлы после использования.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7825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AD3D05-B74B-CF58-75F1-733CBBDB6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B622E8-9639-2606-BE9A-58BFC8777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Общая схема работы:</a:t>
            </a:r>
          </a:p>
          <a:p>
            <a:pPr marL="0" indent="0">
              <a:buNone/>
            </a:pPr>
            <a:r>
              <a:rPr lang="ru-RU" b="1" dirty="0"/>
              <a:t>Хранилище </a:t>
            </a:r>
            <a:r>
              <a:rPr lang="en" b="1" dirty="0" err="1"/>
              <a:t>binlog</a:t>
            </a:r>
            <a:br>
              <a:rPr lang="en" dirty="0"/>
            </a:br>
            <a:r>
              <a:rPr lang="en" dirty="0"/>
              <a:t>↓</a:t>
            </a:r>
            <a:br>
              <a:rPr lang="en" dirty="0"/>
            </a:br>
            <a:r>
              <a:rPr lang="en" b="1" dirty="0" err="1"/>
              <a:t>wal</a:t>
            </a:r>
            <a:r>
              <a:rPr lang="en" b="1" dirty="0"/>
              <a:t>-g </a:t>
            </a:r>
            <a:r>
              <a:rPr lang="en" b="1" dirty="0" err="1"/>
              <a:t>binlog</a:t>
            </a:r>
            <a:r>
              <a:rPr lang="en" b="1" dirty="0"/>
              <a:t>-server</a:t>
            </a:r>
            <a:br>
              <a:rPr lang="en" dirty="0"/>
            </a:br>
            <a:r>
              <a:rPr lang="en" dirty="0"/>
              <a:t>↓</a:t>
            </a:r>
            <a:br>
              <a:rPr lang="en" dirty="0"/>
            </a:br>
            <a:r>
              <a:rPr lang="ru-RU" b="1" dirty="0"/>
              <a:t>Протокол репликации </a:t>
            </a:r>
            <a:r>
              <a:rPr lang="en" b="1" dirty="0"/>
              <a:t>MySQL</a:t>
            </a:r>
            <a:br>
              <a:rPr lang="en" dirty="0"/>
            </a:br>
            <a:r>
              <a:rPr lang="en" dirty="0"/>
              <a:t>↓</a:t>
            </a:r>
            <a:br>
              <a:rPr lang="en" dirty="0"/>
            </a:br>
            <a:r>
              <a:rPr lang="ru-RU" b="1" dirty="0"/>
              <a:t>Восстанавливаемый </a:t>
            </a:r>
            <a:r>
              <a:rPr lang="en" b="1" dirty="0"/>
              <a:t>MySQL-</a:t>
            </a:r>
            <a:r>
              <a:rPr lang="ru-RU" b="1" dirty="0"/>
              <a:t>инстанс</a:t>
            </a:r>
            <a:endParaRPr lang="ru-RU" dirty="0"/>
          </a:p>
          <a:p>
            <a:pPr marL="0" indent="0">
              <a:buNone/>
            </a:pPr>
            <a:r>
              <a:rPr lang="en" dirty="0" err="1"/>
              <a:t>binlog</a:t>
            </a:r>
            <a:r>
              <a:rPr lang="en" dirty="0"/>
              <a:t>-server </a:t>
            </a:r>
            <a:r>
              <a:rPr lang="ru-RU" dirty="0"/>
              <a:t>выступает промежуточным компонентом, который отдает бинарные логи восстанавливаемому серверу в формате, близком к обычной репликации.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8454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89E0A2-E706-B270-CD08-3688E2F9D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Экономическая эффективность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D9EDC8-948D-E54C-FF8D-5AD842933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Замеры времени получения расписания (одинаковые условия: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Wi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-Fi, будний день):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Экономия на одном запросе – 82 с.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При 300 пользователях и одном запросе в день: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Ежедневная экономия ~6,8 часов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За месяц (22 учебных дня) ~150 человеко-часов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BA795D0-770C-9D86-1F2A-BB6FA8A91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566041"/>
              </p:ext>
            </p:extLst>
          </p:nvPr>
        </p:nvGraphicFramePr>
        <p:xfrm>
          <a:off x="1371600" y="2856284"/>
          <a:ext cx="8128000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12639036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6739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900" b="0" i="0" dirty="0">
                          <a:solidFill>
                            <a:srgbClr val="0F1115"/>
                          </a:solidFill>
                          <a:effectLst/>
                          <a:latin typeface="+mj-lt"/>
                        </a:rPr>
                        <a:t>Способ</a:t>
                      </a:r>
                      <a:endParaRPr lang="ru-RU" sz="19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Среднее время</a:t>
                      </a:r>
                      <a:endParaRPr lang="ru-RU" sz="19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993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Официальный сайт</a:t>
                      </a:r>
                      <a:endParaRPr lang="ru-RU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 с</a:t>
                      </a:r>
                      <a:endParaRPr lang="ru-RU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536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Telegram-</a:t>
                      </a:r>
                      <a:r>
                        <a:rPr lang="ru-RU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бот (заранее настроенная группа)</a:t>
                      </a:r>
                      <a:endParaRPr lang="ru-RU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 с</a:t>
                      </a:r>
                      <a:endParaRPr lang="ru-RU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73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0230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F7B393-ED7E-0D84-47E2-44341EEF4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Научная новизна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1D2E79-2011-B396-1B12-2F4E87A42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Интеграция API вуза + многоуровневый кеш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Redis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) → ответ за 0,2–0,4 с.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Ежедневная рассылка с автоматическим определением часового пояса факультета.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Практическая значимость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Бот работает на нескольких факультетах РГПУ им. А. И. Герцена.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Открытый исходный код — возможно тиражирование.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Время доступа к расписанию сокращено с 90 до 8 секунд.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3571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EA8CC7-A1A7-4DB4-5776-75BA57630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  <a:r>
              <a:rPr lang="en-US" dirty="0"/>
              <a:t> </a:t>
            </a:r>
            <a:r>
              <a:rPr lang="ru-RU" dirty="0"/>
              <a:t>и перспективы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276EB-9275-D3AF-0C07-A892E2ED5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Все задачи решены, цель достигнута: создан готовый к эксплуатации Telegram-бот.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Бот обеспечивает персональный доступ, кеширование, автоматическую рассылку, устойчивость к блокировкам.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Перспективы: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Расписание для преподавателей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Интеграция с Google/Яндекс Календарём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Аналитика использования и обратная связь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4892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E1A400-A46A-7165-4E29-3F24B9B06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487439"/>
            <a:ext cx="9601200" cy="1485900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5D80A4-FE07-EFE1-2ADA-8A43611BB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9154275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27</TotalTime>
  <Words>620</Words>
  <Application>Microsoft Office PowerPoint</Application>
  <PresentationFormat>Широкоэкранный</PresentationFormat>
  <Paragraphs>78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Franklin Gothic Book</vt:lpstr>
      <vt:lpstr>quote-cjk-patch</vt:lpstr>
      <vt:lpstr>Уголки</vt:lpstr>
      <vt:lpstr>Дипломная работа  Тема: Разработка телеграм-бота для составления расписания ВУЗов</vt:lpstr>
      <vt:lpstr>Актуальность темы</vt:lpstr>
      <vt:lpstr>Цель и задачи работы</vt:lpstr>
      <vt:lpstr>Теоретическая основа и анализ</vt:lpstr>
      <vt:lpstr>Архитектура системы</vt:lpstr>
      <vt:lpstr>Идея разработанного решения</vt:lpstr>
      <vt:lpstr>Архитектура решения</vt:lpstr>
      <vt:lpstr>Экономическая эффективность</vt:lpstr>
      <vt:lpstr>Научная новизна</vt:lpstr>
      <vt:lpstr>Заключение и перспективы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Атаманов</dc:creator>
  <cp:lastModifiedBy>Александр Атаманов</cp:lastModifiedBy>
  <cp:revision>2</cp:revision>
  <dcterms:created xsi:type="dcterms:W3CDTF">2026-05-22T15:35:40Z</dcterms:created>
  <dcterms:modified xsi:type="dcterms:W3CDTF">2026-05-25T22:04:51Z</dcterms:modified>
</cp:coreProperties>
</file>